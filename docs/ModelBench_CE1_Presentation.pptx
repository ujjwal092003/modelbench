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34440"/>
            <a:ext cx="2926080" cy="38404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CS801: COMPUTING LAB (M.TECH)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41832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ModelBench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</a:defRPr>
            </a:pPr>
            <a:r>
              <a:t>An Interactive Platform for ML Model Comparison and Prediction</a:t>
            </a:r>
          </a:p>
          <a:p>
            <a:pPr>
              <a:spcBef>
                <a:spcPts val="600"/>
              </a:spcBef>
              <a:defRPr sz="1300" b="1">
                <a:solidFill>
                  <a:srgbClr val="2563EB"/>
                </a:solidFill>
              </a:defRPr>
            </a:pPr>
            <a:r>
              <a:t>Continuous Evaluation 1 (CE-1) Progress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9418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94183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Team Members: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• Ujjwal Singh  (Roll No: 262IS036)</a:t>
            </a:r>
            <a:br/>
            <a:r>
              <a:t>• Aryan  (Roll No: 262IS007)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</a:defRPr>
            </a:pPr>
            <a:r>
              <a:t>Department of Computer Science &amp; Engineering | National Institute of Technology Karnataka, Surathkal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MODELBENCH | CONTINUOUS EVALUATION 1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&amp; Motivation in Applied Machine Learning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57200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⚠️ The Current Practical Bottlenecks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Fragmented ML Experimentation: </a:t>
            </a:r>
            <a:r>
              <a:rPr sz="1000">
                <a:solidFill>
                  <a:srgbClr val="475569"/>
                </a:solidFill>
              </a:rPr>
              <a:t>Practitioners repeatedly build, tune, and compare models across separate ad-hoc notebooks, leading to inconsistent pipelines.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Hidden Data Leakage: </a:t>
            </a:r>
            <a:r>
              <a:rPr sz="1000">
                <a:solidFill>
                  <a:srgbClr val="475569"/>
                </a:solidFill>
              </a:rPr>
              <a:t>Preprocessing transformations (scaling, encoding) often fit on the entire dataset prior to splitting, skewing real-world generalization.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Predictions Trapped in Code: </a:t>
            </a:r>
            <a:r>
              <a:rPr sz="1000">
                <a:solidFill>
                  <a:srgbClr val="475569"/>
                </a:solidFill>
              </a:rPr>
              <a:t>Trained models remain inside Python scripts; non-technical stakeholders cannot obtain predictions without developer assistance.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Lack of Standardized Benchmarks: </a:t>
            </a:r>
            <a:r>
              <a:rPr sz="1000">
                <a:solidFill>
                  <a:srgbClr val="475569"/>
                </a:solidFill>
              </a:rPr>
              <a:t>Comparing algorithms fairly requires identical train/test partitions, unified metrics, and diagnostic error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9377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6634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💡 The ModelBench Approach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Unified Experimentation Platform: </a:t>
            </a:r>
            <a:r>
              <a:rPr sz="1000">
                <a:solidFill>
                  <a:srgbClr val="475569"/>
                </a:solidFill>
              </a:rPr>
              <a:t>Provides a single interface to load datasets, train candidate model families, and evaluate them on standardized splits.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Leak-Free Pipeline Architecture: </a:t>
            </a:r>
            <a:r>
              <a:rPr sz="1000">
                <a:solidFill>
                  <a:srgbClr val="475569"/>
                </a:solidFill>
              </a:rPr>
              <a:t>Enforces strict training-only fits with ColumnTransformer, ensuring authentic out-of-sample evaluation.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Multi-Metric &amp; Diagnostic Inspection: </a:t>
            </a:r>
            <a:r>
              <a:rPr sz="1000">
                <a:solidFill>
                  <a:srgbClr val="475569"/>
                </a:solidFill>
              </a:rPr>
              <a:t>Benchmarks R², MAE, RMSE, and visualizes residual patterns to understand model behavior.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E3A8A"/>
                </a:solidFill>
              </a:rPr>
              <a:t>• Dual-Layer Accessibility: </a:t>
            </a:r>
            <a:r>
              <a:rPr sz="1000">
                <a:solidFill>
                  <a:srgbClr val="475569"/>
                </a:solidFill>
              </a:rPr>
              <a:t>Serves both technical ML engineers (benchmarking &amp; diagnostics) and domain users (clean live predictions).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DUAL TARGET PERSONAS &amp; CORE WORKFLOWS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Who is ModelBench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👤 End User (Domain Expert / Stakeholder)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💻 ML Engineer / Researcher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Does not need machine learning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Needs tools for systematic ML experimentation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Enters familiar, human-readable values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Selects datasets and candidate model families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Obtains instant target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Compares model performance across multiple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No preprocessing / encoding knowledge required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Tests regularization penalties &amp; hyperparameters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Does not need to write Python code or run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• Studies error distributions and diagnostic plots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00600"/>
            <a:ext cx="512064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493776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End User Flow:</a:t>
            </a:r>
          </a:p>
          <a:p>
            <a:pPr>
              <a:spcBef>
                <a:spcPts val="400"/>
              </a:spcBef>
              <a:defRPr sz="1050" b="1">
                <a:solidFill>
                  <a:srgbClr val="2563EB"/>
                </a:solidFill>
              </a:defRPr>
            </a:pPr>
            <a:r>
              <a:t>Select Dataset  →  Enter Inputs  →  ModelBench  → 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800600"/>
            <a:ext cx="5120640" cy="1051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92040"/>
            <a:ext cx="493776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59669"/>
                </a:solidFill>
              </a:defRPr>
            </a:pPr>
            <a:r>
              <a:t>ML Engineer Flow:</a:t>
            </a:r>
          </a:p>
          <a:p>
            <a:pPr>
              <a:spcBef>
                <a:spcPts val="400"/>
              </a:spcBef>
              <a:defRPr sz="1000" b="1">
                <a:solidFill>
                  <a:srgbClr val="059669"/>
                </a:solidFill>
              </a:defRPr>
            </a:pPr>
            <a:r>
              <a:t>Dataset  →  Models  →  Hyperparameters  →  Evaluation  →  Diagnostics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⚡ Same platform, two distinct levels of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FROM PREDICTION TO ML EXPERIMENTATION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How ModelBench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1554480"/>
            <a:ext cx="4114800" cy="502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MODELBENCH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331720"/>
            <a:ext cx="4389120" cy="30175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02336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👤 End User Interaction Flow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1. Select benchmark dataset from catalog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2. Enter familiar inputs (Age, BMI, Smoker...)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3. Select model (or use top benchmarked model)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4. Click Predict → Receive formatted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331720"/>
            <a:ext cx="4389120" cy="30175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023360" cy="2743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💻 ML Engineer Interaction Flow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1. Select dataset &amp; inspect distribution insights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2. Evaluate multiple model architectures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3. Tune regularization hyperparameters (α)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4. Compare metrics (R², MAE, RMSE) on test set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5. Inspect diagnostics (Residuals &amp; Actual vs Pred)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06440"/>
            <a:ext cx="10698480" cy="594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Current CE-1 Demonstration: </a:t>
            </a:r>
            <a:r>
              <a:rPr sz="1000">
                <a:solidFill>
                  <a:srgbClr val="0F172A"/>
                </a:solidFill>
              </a:rPr>
              <a:t>Medical Insurance Cost Prediction  |  </a:t>
            </a:r>
            <a:r>
              <a:rPr b="1" sz="1000">
                <a:solidFill>
                  <a:srgbClr val="059669"/>
                </a:solidFill>
              </a:rPr>
              <a:t>Future Roadmap: </a:t>
            </a:r>
            <a:r>
              <a:rPr sz="1000">
                <a:solidFill>
                  <a:srgbClr val="475569"/>
                </a:solidFill>
              </a:rPr>
              <a:t>Extensible architecture supporting multiple regression and classification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MEDICAL INSURANCE COST PREDICTION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Current CE-1 Demonstration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49377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44805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50" b="1">
                <a:solidFill>
                  <a:srgbClr val="1E3A8A"/>
                </a:solidFill>
              </a:defRPr>
            </a:pPr>
            <a:r>
              <a:t>📋 Dataset Overview (N = 1,338)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Task Type: </a:t>
            </a:r>
            <a:r>
              <a:rPr sz="950">
                <a:solidFill>
                  <a:srgbClr val="475569"/>
                </a:solidFill>
              </a:rPr>
              <a:t>Supervised Continuous Regression.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Target Variable: </a:t>
            </a:r>
            <a:r>
              <a:rPr sz="950">
                <a:solidFill>
                  <a:srgbClr val="475569"/>
                </a:solidFill>
              </a:rPr>
              <a:t>`charges` ($) — Annual medical costs (Right-skewed, $1,121 to $63,770).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Data Quality: </a:t>
            </a:r>
            <a:r>
              <a:rPr sz="950">
                <a:solidFill>
                  <a:srgbClr val="475569"/>
                </a:solidFill>
              </a:rPr>
              <a:t>Clean, real-world healthcare dataset with zero missing values.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User-Facing Inputs: </a:t>
            </a:r>
            <a:r>
              <a:rPr sz="950">
                <a:solidFill>
                  <a:srgbClr val="475569"/>
                </a:solidFill>
              </a:rPr>
              <a:t>Age, Sex, BMI, Number of Children, Smoking Status.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172A"/>
                </a:solidFill>
              </a:rPr>
              <a:t>• Internal Baseline: </a:t>
            </a:r>
            <a:r>
              <a:rPr sz="950">
                <a:solidFill>
                  <a:srgbClr val="475569"/>
                </a:solidFill>
              </a:rPr>
              <a:t>Region handled internally as baseline reference to preserve pipeline structure without cluttering user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434840"/>
            <a:ext cx="4572000" cy="16459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438912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User Input Vector → Model Prediction:</a:t>
            </a:r>
          </a:p>
          <a:p>
            <a:pPr>
              <a:spcBef>
                <a:spcPts val="300"/>
              </a:spcBef>
              <a:defRPr sz="950" b="1">
                <a:solidFill>
                  <a:srgbClr val="2563EB"/>
                </a:solidFill>
              </a:defRPr>
            </a:pPr>
            <a:r>
              <a:t>[ Age  |  Sex  |  BMI  |  Children  |  Smoker ]</a:t>
            </a:r>
            <a:br/>
            <a:r>
              <a:t>               ↓</a:t>
            </a:r>
            <a:br/>
            <a:r>
              <a:t>Estimated Medical Charges ($)</a:t>
            </a:r>
          </a:p>
          <a:p>
            <a:pPr>
              <a:spcBef>
                <a:spcPts val="400"/>
              </a:spcBef>
              <a:defRPr sz="850">
                <a:solidFill>
                  <a:srgbClr val="475569"/>
                </a:solidFill>
              </a:defRPr>
            </a:pPr>
            <a:r>
              <a:t>EDA Takeaway: Smoking &amp; BMI show strong non-linear interaction, motivating polynomial feature expansion.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25880"/>
            <a:ext cx="54864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eda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00200"/>
            <a:ext cx="53035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LEAK-FREE SCIKIT-LEARN PIPELINE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Machine Learning Methodology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1920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⚙️ End-to-End Experimental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1. Dataset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1,338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2. 80/20 Split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Train: 1,070 | Test: 268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3. ColumnTransformer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Numeric: Scale | Cat: Encode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9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4. Model Experiments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Linear | Ridge | Poly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74519"/>
            <a:ext cx="182880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65960"/>
            <a:ext cx="1645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E3A8A"/>
                </a:solidFill>
              </a:defRPr>
            </a:pPr>
            <a:r>
              <a:t>5. Evaluation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</a:defRPr>
            </a:pPr>
            <a:r>
              <a:t>R² | MAE | RMSE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3832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Linear Regression (OLS Baseline)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Standard multi-feature linear hypothesis.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Minimizes Residual Sum of Squares (RSS).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Assumes independent, additive feature contributions.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Serves as the empirical benchmark baseline.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383280" cy="2651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Ridge Regression (L2 Regularization)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Linear model with L2 weight shrinkage.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Loss: RSS + α Σ βⱼ²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Tuned α across [0.01, 0.1, 1.0, 10.0, 100.0].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Controls multicollinearity &amp; stabilizes weights.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29000"/>
            <a:ext cx="3383280" cy="2651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3566160"/>
            <a:ext cx="3054096" cy="2377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Polynomial Ridge (Degree=2, α=10.0)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Non-linear basis expansion (quadratic &amp; interaction terms).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Captures feature synergies like (BMI × Smoker).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Regularized with α=10.0 to prevent overfitting.</a:t>
            </a:r>
          </a:p>
          <a:p>
            <a:pPr>
              <a:spcBef>
                <a:spcPts val="400"/>
              </a:spcBef>
              <a:defRPr sz="900">
                <a:solidFill>
                  <a:srgbClr val="475569"/>
                </a:solidFill>
              </a:defRPr>
            </a:pPr>
            <a:r>
              <a:t>• Achieves optimal bias-variance balance.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🔒 Methodological Guarantee: Preprocessing transformers fit strictly on X_train only to prevent data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ANSWERING: WHICH CONFIGURATION PERFORMS BEST ON THIS DATASET?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Comparison &amp; Hyperparameter Evaluation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25880"/>
          <a:ext cx="6858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05840"/>
                <a:gridCol w="1005840"/>
                <a:gridCol w="1143000"/>
                <a:gridCol w="1143000"/>
              </a:tblGrid>
              <a:tr h="605790">
                <a:tc>
                  <a:txBody>
                    <a:bodyPr/>
                    <a:lstStyle/>
                    <a:p>
                      <a:pPr algn="l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Model Configuration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Train 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MAE ($)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Test RMSE ($)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(OLS)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$4,181.19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0.01)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$4,181.31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$5,796.28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$4,182.39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$5,796.34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0.7417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0.7833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$4,193.20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$5,800.46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10.0)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0.7791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$4,300.89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$5,856.32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Ridge (α = 100.0)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0.6729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0.6859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$5,217.80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$6,997.74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Polynomial Ridge (d=2, α=10.0)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0.8407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0.8656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$2,836.88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059669"/>
                          </a:solidFill>
                        </a:defRPr>
                      </a:pPr>
                      <a:r>
                        <a:t>$4,568.56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25880"/>
            <a:ext cx="3566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r2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463040"/>
            <a:ext cx="3200400" cy="2011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3611880"/>
            <a:ext cx="3200400" cy="2468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🎯 Empirical Takeaways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+8.2% Explained Variance: </a:t>
            </a:r>
            <a:r>
              <a:rPr sz="800">
                <a:solidFill>
                  <a:srgbClr val="475569"/>
                </a:solidFill>
              </a:rPr>
              <a:t>Polynomial Ridge increases R² from 78.36% to 86.56% on unseen test data.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Substantial Error Reduction: </a:t>
            </a:r>
            <a:r>
              <a:rPr sz="800">
                <a:solidFill>
                  <a:srgbClr val="475569"/>
                </a:solidFill>
              </a:rPr>
              <a:t>MAE drops by $1,344.31 (32% improvement) by modeling feature interactions.</a:t>
            </a:r>
          </a:p>
          <a:p>
            <a:pPr>
              <a:spcBef>
                <a:spcPts val="400"/>
              </a:spcBef>
            </a:pPr>
            <a:r>
              <a:rPr b="1" sz="850">
                <a:solidFill>
                  <a:srgbClr val="0F172A"/>
                </a:solidFill>
              </a:rPr>
              <a:t>• Hyperparameter Impact: </a:t>
            </a:r>
            <a:r>
              <a:rPr sz="800">
                <a:solidFill>
                  <a:srgbClr val="475569"/>
                </a:solidFill>
              </a:rPr>
              <a:t>Excessive shrinkage (α=100) causes underfitting (R²=68.59%). α=10 provides optimal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ANALYZING ERROR PATTERNS ACROSS MODEL ARCHITECTURES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Diagnostics &amp; Error Inspection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69848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1E3A8A"/>
                </a:solidFill>
              </a:defRPr>
            </a:pPr>
            <a:r>
              <a:t>🔍 What the Diagnostic Plots Reveal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Linear Baseline: </a:t>
            </a:r>
            <a:r>
              <a:rPr sz="900">
                <a:solidFill>
                  <a:srgbClr val="475569"/>
                </a:solidFill>
              </a:rPr>
              <a:t>Systematically underpredicts high charges ($30k+), creating a dispersed fan pattern (heteroscedasticity) due to unmodeled interactions.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Polynomial Ridge: </a:t>
            </a:r>
            <a:r>
              <a:rPr sz="900">
                <a:solidFill>
                  <a:srgbClr val="475569"/>
                </a:solidFill>
              </a:rPr>
              <a:t>Predictions cluster significantly closer to the ideal y=x reference line across both low-cost non-smokers and high-cost obese smokers.</a:t>
            </a:r>
          </a:p>
          <a:p>
            <a:pPr>
              <a:spcBef>
                <a:spcPts val="300"/>
              </a:spcBef>
            </a:pPr>
            <a:r>
              <a:rPr b="1" sz="950">
                <a:solidFill>
                  <a:srgbClr val="0F172A"/>
                </a:solidFill>
              </a:rPr>
              <a:t>• Residual Uniformity: </a:t>
            </a:r>
            <a:r>
              <a:rPr sz="900">
                <a:solidFill>
                  <a:srgbClr val="475569"/>
                </a:solidFill>
              </a:rPr>
              <a:t>Variance of residuals is stabilized, demonstrating improved bias-variance tradeoff on 268 test samples.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10698480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diagnostic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063240"/>
            <a:ext cx="97840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MODULAR IMPLEMENTATION &amp; COLLABORATIVE DEVELOPMENT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Architecture &amp; Team Responsibilities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🏗️ ModelBench 3-Tier Architecture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2563EB"/>
                </a:solidFill>
              </a:rPr>
              <a:t>• React Frontend (Vite): </a:t>
            </a:r>
            <a:r>
              <a:rPr sz="900">
                <a:solidFill>
                  <a:srgbClr val="475569"/>
                </a:solidFill>
              </a:rPr>
              <a:t>Interactive UI for Dataset selection, Model selection, human-readable inputs, and comparison scorecards.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2563EB"/>
                </a:solidFill>
              </a:rPr>
              <a:t>• FastAPI Backend: </a:t>
            </a:r>
            <a:r>
              <a:rPr sz="900">
                <a:solidFill>
                  <a:srgbClr val="475569"/>
                </a:solidFill>
              </a:rPr>
              <a:t>Lightweight Python service exposing REST endpoints (/api/predict, /api/comparison, /api/diagnostics).</a:t>
            </a:r>
          </a:p>
          <a:p>
            <a:pPr>
              <a:spcBef>
                <a:spcPts val="800"/>
              </a:spcBef>
            </a:pPr>
            <a:r>
              <a:rPr b="1" sz="950">
                <a:solidFill>
                  <a:srgbClr val="2563EB"/>
                </a:solidFill>
              </a:rPr>
              <a:t>• ML Core Engine: </a:t>
            </a:r>
            <a:r>
              <a:rPr sz="900">
                <a:solidFill>
                  <a:srgbClr val="475569"/>
                </a:solidFill>
              </a:rPr>
              <a:t>Reusable Scikit-Learn pipelines, ColumnTransformer, and metric evaluation logic.</a:t>
            </a:r>
          </a:p>
          <a:p>
            <a:pPr>
              <a:spcBef>
                <a:spcPts val="1200"/>
              </a:spcBef>
            </a:pPr>
            <a:r>
              <a:rPr b="1" sz="950">
                <a:solidFill>
                  <a:srgbClr val="059669"/>
                </a:solidFill>
              </a:rPr>
              <a:t>⚡ Extensible Architecture: </a:t>
            </a:r>
            <a:r>
              <a:rPr sz="900">
                <a:solidFill>
                  <a:srgbClr val="0F172A"/>
                </a:solidFill>
              </a:rPr>
              <a:t>Schema-driven design allowing additional datasets and models to be plugged in seamlessly.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4846320" cy="2011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45920"/>
            <a:ext cx="45720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👨‍💻 Ujjwal Singh (Roll No: 262IS036)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Exploratory Data Analysis &amp; statistical distribution plotting.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Non-linear interaction term discovery (BMI × Smoker).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Multiple Linear Regression &amp; Polynomial basis expansion (d=2).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Model diagnostic scatter plotting &amp; residual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749039"/>
            <a:ext cx="4846320" cy="2194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3840480"/>
            <a:ext cx="457200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👨‍💻 Aryan (Roll No: 262IS007)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Scikit-Learn ColumnTransformer leak-free preprocessing.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Ridge L2 regularization experiments &amp; α hyperparameter search.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Benchmarking evaluation module (R², MAE, RMSE metrics).</a:t>
            </a:r>
          </a:p>
          <a:p>
            <a:pPr>
              <a:spcBef>
                <a:spcPts val="200"/>
              </a:spcBef>
              <a:defRPr sz="850">
                <a:solidFill>
                  <a:srgbClr val="475569"/>
                </a:solidFill>
              </a:defRPr>
            </a:pPr>
            <a:r>
              <a:t>• FastAPI backend integration &amp; dynamic dataset schema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CONTINUOUS EVALUATION 1 MILESTONES &amp; NEXT STEPS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Summary &amp; Project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120640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57200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✅ Current Deliverables (CE-1)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Regression Benchmark Harness: </a:t>
            </a:r>
            <a:r>
              <a:rPr sz="950">
                <a:solidFill>
                  <a:srgbClr val="475569"/>
                </a:solidFill>
              </a:rPr>
              <a:t>Working end-to-end regression evaluation across Linear, Ridge, and Polynomial architectures.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Empirical Evaluation Scorecard: </a:t>
            </a:r>
            <a:r>
              <a:rPr sz="950">
                <a:solidFill>
                  <a:srgbClr val="475569"/>
                </a:solidFill>
              </a:rPr>
              <a:t>Standardized metrics on 268 test samples proving +8.2% explained variance gain.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Dual-Layer Interface: </a:t>
            </a:r>
            <a:r>
              <a:rPr sz="950">
                <a:solidFill>
                  <a:srgbClr val="475569"/>
                </a:solidFill>
              </a:rPr>
              <a:t>Interactive UI providing prediction for end users and analytical scorecards for ML practitioners.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Clean, Leak-Free Codebase: </a:t>
            </a:r>
            <a:r>
              <a:rPr sz="950">
                <a:solidFill>
                  <a:srgbClr val="475569"/>
                </a:solidFill>
              </a:rPr>
              <a:t>Modular Scikit-Learn pipelines connected to lightweight FastAPI integration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12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600200"/>
            <a:ext cx="4663440" cy="4297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🚀 Next Milestones (CE-2 &amp; Final)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Multi-Dataset Benchmarking: </a:t>
            </a:r>
            <a:r>
              <a:rPr sz="950">
                <a:solidFill>
                  <a:srgbClr val="475569"/>
                </a:solidFill>
              </a:rPr>
              <a:t>Integrate additional datasets (Housing Prices, Student Performance, Customer Churn).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Classification Benchmark Engine: </a:t>
            </a:r>
            <a:r>
              <a:rPr sz="950">
                <a:solidFill>
                  <a:srgbClr val="475569"/>
                </a:solidFill>
              </a:rPr>
              <a:t>Add Logistic Regression, Decision Trees, Random Forests, and SVM.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Classification Diagnostics: </a:t>
            </a:r>
            <a:r>
              <a:rPr sz="950">
                <a:solidFill>
                  <a:srgbClr val="475569"/>
                </a:solidFill>
              </a:rPr>
              <a:t>Incorporate Confusion Matrices, Precision-Recall Curves, and ROC-AUC scores.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172A"/>
                </a:solidFill>
              </a:rPr>
              <a:t>• Automated Hyperparameter Search: </a:t>
            </a:r>
            <a:r>
              <a:rPr sz="950">
                <a:solidFill>
                  <a:srgbClr val="475569"/>
                </a:solidFill>
              </a:rPr>
              <a:t>Implement interactive GridSearch &amp; RandomizedSearchCV visualizer.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