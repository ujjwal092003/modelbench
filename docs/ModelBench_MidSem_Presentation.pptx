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34440"/>
            <a:ext cx="3291840" cy="3840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CS801: COMPUTING LAB — MIDSEM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ModelBench</a:t>
            </a:r>
          </a:p>
          <a:p>
            <a:pPr>
              <a:spcBef>
                <a:spcPts val="800"/>
              </a:spcBef>
              <a:defRPr sz="1500">
                <a:solidFill>
                  <a:srgbClr val="475569"/>
                </a:solidFill>
              </a:defRPr>
            </a:pPr>
            <a:r>
              <a:t>A Web-Based Platform for Empirical Machine Learning Model Evaluation &amp; Comparative Benchmarking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Mid-Semester Project Progress Presentation &amp;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18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Presented By: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• Ujjwal Singh  (Roll No: 262IS036)</a:t>
            </a:r>
            <a:br/>
            <a:r>
              <a:t>• Aryan  (Roll No: 262IS007)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Course Instructor: Prof. P. Santhi Thilagam  |  Dept. of CSE, National Institute of Technology Karnataka (NITK), Surathkal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MODELBENCH | MID-SEMESTER EVALUATION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Motivation &amp; Problem Statement in Applied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⚠️ The Problem in Applied ML Practice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Fragmented ML Experimentation: </a:t>
            </a:r>
            <a:r>
              <a:rPr sz="1000">
                <a:solidFill>
                  <a:srgbClr val="475569"/>
                </a:solidFill>
              </a:rPr>
              <a:t>Practitioners train and tune algorithms across ad-hoc Jupyter notebooks with inconsistent preprocessing and train-test splits.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Hidden Data Leakage: </a:t>
            </a:r>
            <a:r>
              <a:rPr sz="1000">
                <a:solidFill>
                  <a:srgbClr val="475569"/>
                </a:solidFill>
              </a:rPr>
              <a:t>Preprocessing transformations (scaling, encoding) often fit on the entire dataset prior to splitting, distorting out-of-sample generalization.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Predictions Trapped in Code: </a:t>
            </a:r>
            <a:r>
              <a:rPr sz="1000">
                <a:solidFill>
                  <a:srgbClr val="475569"/>
                </a:solidFill>
              </a:rPr>
              <a:t>Trained models remain inside Python scripts; non-technical stakeholders cannot obtain predictions without developer assistance.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Superficial Benchmarking: </a:t>
            </a:r>
            <a:r>
              <a:rPr sz="1000">
                <a:solidFill>
                  <a:srgbClr val="475569"/>
                </a:solidFill>
              </a:rPr>
              <a:t>Comparison is often limited to a single scalar metric without residual diagnostics or hyperparameter sensitivity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6634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💡 The ModelBench Approach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Unified Benchmarking Platform: </a:t>
            </a:r>
            <a:r>
              <a:rPr sz="1000">
                <a:solidFill>
                  <a:srgbClr val="475569"/>
                </a:solidFill>
              </a:rPr>
              <a:t>Provides a single interface to load datasets, train candidate model families, and evaluate them under standardized conditions.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Leak-Free Pipeline Architecture: </a:t>
            </a:r>
            <a:r>
              <a:rPr sz="1000">
                <a:solidFill>
                  <a:srgbClr val="475569"/>
                </a:solidFill>
              </a:rPr>
              <a:t>Enforces strict training-only fits with ColumnTransformer, ensuring authentic out-of-sample evaluation.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Multi-Metric &amp; Diagnostic Inspection: </a:t>
            </a:r>
            <a:r>
              <a:rPr sz="1000">
                <a:solidFill>
                  <a:srgbClr val="475569"/>
                </a:solidFill>
              </a:rPr>
              <a:t>Benchmarks R², MAE, RMSE, and visualizes residual patterns to understand model behavior.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Dual-Layer Accessibility: </a:t>
            </a:r>
            <a:r>
              <a:rPr sz="1000">
                <a:solidFill>
                  <a:srgbClr val="475569"/>
                </a:solidFill>
              </a:rPr>
              <a:t>Serves both technical ML engineers (benchmarking &amp; diagnostics) and domain users (clean live predictions).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DUAL TARGET PERSONAS &amp; CORE WORKFLOWS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Who is ModelBench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👤 End User (Domain Expert / Stakeholder)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💻 ML Engineer / Researcher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Does not need machine learning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Needs tools for systematic ML experimentation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Enters familiar, human-readable values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Selects datasets and candidate model families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Obtains instant target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Compares model performance across multiple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No preprocessing / encoding knowledge 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Tests regularization penalties &amp; hyperparameters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Does not need to write Python code or run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Studies error distributions and diagnostic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00600"/>
            <a:ext cx="512064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493776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End User Flow:</a:t>
            </a:r>
          </a:p>
          <a:p>
            <a:pPr>
              <a:spcBef>
                <a:spcPts val="400"/>
              </a:spcBef>
              <a:defRPr sz="1050" b="1">
                <a:solidFill>
                  <a:srgbClr val="2563EB"/>
                </a:solidFill>
              </a:defRPr>
            </a:pPr>
            <a:r>
              <a:t>Select Dataset  →  Enter Inputs  →  ModelBench  → 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800600"/>
            <a:ext cx="5120640" cy="1051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92040"/>
            <a:ext cx="493776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ML Engineer Flow:</a:t>
            </a:r>
          </a:p>
          <a:p>
            <a:pPr>
              <a:spcBef>
                <a:spcPts val="400"/>
              </a:spcBef>
              <a:defRPr sz="1000" b="1">
                <a:solidFill>
                  <a:srgbClr val="059669"/>
                </a:solidFill>
              </a:defRPr>
            </a:pPr>
            <a:r>
              <a:t>Dataset  →  Models  →  Hyperparameters  →  Evaluation  → 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⚡ Same platform, two distinct levels of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OFFICIAL EVALUATION REQUIREMENT: TASKS COMPLETED VS. REMAINING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Mid-Semester Status: Progress Accounting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✅ Tasks Accomplished (Phase 1 &amp; MidSem)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Regression Benchmark Core: </a:t>
            </a:r>
            <a:r>
              <a:rPr sz="900">
                <a:solidFill>
                  <a:srgbClr val="475569"/>
                </a:solidFill>
              </a:rPr>
              <a:t>Complete pipeline implemented on Medical Insurance dataset (1,338 records).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Leak-Free Preprocessing: </a:t>
            </a:r>
            <a:r>
              <a:rPr sz="900">
                <a:solidFill>
                  <a:srgbClr val="475569"/>
                </a:solidFill>
              </a:rPr>
              <a:t>Scikit-Learn ColumnTransformer (StandardScaler + OneHotEncoder) strictly fit on X_train.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Algorithms Benchmarked: </a:t>
            </a:r>
            <a:r>
              <a:rPr sz="900">
                <a:solidFill>
                  <a:srgbClr val="475569"/>
                </a:solidFill>
              </a:rPr>
              <a:t>Linear OLS, Ridge (α = 0.01 to 100), and Polynomial Ridge (d=2, α=10).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Empirical Performance: </a:t>
            </a:r>
            <a:r>
              <a:rPr sz="900">
                <a:solidFill>
                  <a:srgbClr val="475569"/>
                </a:solidFill>
              </a:rPr>
              <a:t>Discovered non-linear BMI × Smoker synergy (+8.2% R² gain, $1,344 MAE reduction).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Error Diagnostics: </a:t>
            </a:r>
            <a:r>
              <a:rPr sz="900">
                <a:solidFill>
                  <a:srgbClr val="475569"/>
                </a:solidFill>
              </a:rPr>
              <a:t>Residual analysis and Actual vs. Predicted scatter plots generated.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FastAPI Backend: </a:t>
            </a:r>
            <a:r>
              <a:rPr sz="900">
                <a:solidFill>
                  <a:srgbClr val="475569"/>
                </a:solidFill>
              </a:rPr>
              <a:t>REST service with pipeline startup caching (&lt;2ms inference).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React Workbench Dashboard: </a:t>
            </a:r>
            <a:r>
              <a:rPr sz="900">
                <a:solidFill>
                  <a:srgbClr val="475569"/>
                </a:solidFill>
              </a:rPr>
              <a:t>Interactive 3-tab UI (Prediction, Scorecard, Diagnostics).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🚀 Tasks to be Completed (CE-2 &amp; EndSem)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Classification Benchmark Engine: </a:t>
            </a:r>
            <a:r>
              <a:rPr sz="900">
                <a:solidFill>
                  <a:srgbClr val="475569"/>
                </a:solidFill>
              </a:rPr>
              <a:t>Implement Logistic Regression, KNN, Decision Trees, Random Forests, and SVM.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Classification Dataset: </a:t>
            </a:r>
            <a:r>
              <a:rPr sz="900">
                <a:solidFill>
                  <a:srgbClr val="475569"/>
                </a:solidFill>
              </a:rPr>
              <a:t>Ingest real-world classification dataset (Telco Customer Churn, ~7,000 records).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Classification Metrics: </a:t>
            </a:r>
            <a:r>
              <a:rPr sz="900">
                <a:solidFill>
                  <a:srgbClr val="475569"/>
                </a:solidFill>
              </a:rPr>
              <a:t>Compute Accuracy, Precision, Recall, F1-Score, and ROC-AUC score.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Diagnostic Visualizers: </a:t>
            </a:r>
            <a:r>
              <a:rPr sz="900">
                <a:solidFill>
                  <a:srgbClr val="475569"/>
                </a:solidFill>
              </a:rPr>
              <a:t>Interactive Confusion Matrix heatmaps and ROC curve overlays.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Automated Hyperparameter Tuning: </a:t>
            </a:r>
            <a:r>
              <a:rPr sz="900">
                <a:solidFill>
                  <a:srgbClr val="475569"/>
                </a:solidFill>
              </a:rPr>
              <a:t>GridSearchCV &amp; RandomizedSearchCV with k-fold cross-validation.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Multi-Dataset UI Task Switcher: </a:t>
            </a:r>
            <a:r>
              <a:rPr sz="900">
                <a:solidFill>
                  <a:srgbClr val="475569"/>
                </a:solidFill>
              </a:rPr>
              <a:t>Schema-driven toggle between Regression and Classification.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2563EB"/>
                </a:solidFill>
              </a:rPr>
              <a:t>• Comprehensive Final Project Report: </a:t>
            </a:r>
            <a:r>
              <a:rPr sz="900">
                <a:solidFill>
                  <a:srgbClr val="475569"/>
                </a:solidFill>
              </a:rPr>
              <a:t>Complete LaTeX documentation and final performance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CURRENT DEMONSTRATION DATASET &amp; EXPLORATORY FINDINGS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Current Benchmark: Medical Insurance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📋 Dataset Overview (N = 1,338)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Task Type: </a:t>
            </a:r>
            <a:r>
              <a:rPr sz="950">
                <a:solidFill>
                  <a:srgbClr val="475569"/>
                </a:solidFill>
              </a:rPr>
              <a:t>Supervised Continuous Regression.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Target Variable: </a:t>
            </a:r>
            <a:r>
              <a:rPr sz="950">
                <a:solidFill>
                  <a:srgbClr val="475569"/>
                </a:solidFill>
              </a:rPr>
              <a:t>`charges` ($) — Annual medical costs (Right-skewed, $1,121 to $63,770).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Data Quality: </a:t>
            </a:r>
            <a:r>
              <a:rPr sz="950">
                <a:solidFill>
                  <a:srgbClr val="475569"/>
                </a:solidFill>
              </a:rPr>
              <a:t>Clean, real-world healthcare dataset with zero missing values.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User-Facing Inputs: </a:t>
            </a:r>
            <a:r>
              <a:rPr sz="950">
                <a:solidFill>
                  <a:srgbClr val="475569"/>
                </a:solidFill>
              </a:rPr>
              <a:t>Age, Sex, BMI, Number of Children, Smoking Status.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Internal Baseline: </a:t>
            </a:r>
            <a:r>
              <a:rPr sz="950">
                <a:solidFill>
                  <a:srgbClr val="475569"/>
                </a:solidFill>
              </a:rPr>
              <a:t>Region handled internally as baseline reference to preserve pipeline structure without cluttering user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434840"/>
            <a:ext cx="457200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43891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User Input Vector → Model Prediction:</a:t>
            </a:r>
          </a:p>
          <a:p>
            <a:pPr>
              <a:spcBef>
                <a:spcPts val="300"/>
              </a:spcBef>
              <a:defRPr sz="950" b="1">
                <a:solidFill>
                  <a:srgbClr val="2563EB"/>
                </a:solidFill>
              </a:defRPr>
            </a:pPr>
            <a:r>
              <a:t>[ Age  |  Sex  |  BMI  |  Children  |  Smoker ]</a:t>
            </a:r>
            <a:br/>
            <a:r>
              <a:t>               ↓</a:t>
            </a:r>
            <a:br/>
            <a:r>
              <a:t>Estimated Medical Charges ($)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EDA Takeaway: Smoking &amp; BMI show strong non-linear interaction, motivating polynomial feature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ed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303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LEAK-FREE SCIKIT-LEARN PIPELINE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Machine Learning Methodology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⚙️ End-to-End Experimental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1. Dataset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1,338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2. 80/20 Split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Train: 1,070 | Test: 268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3. ColumnTransformer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Numeric: Scale | Cat: Encode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9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4. Model Experiments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Linear | Ridge | Poly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5. Evaluation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R² | MAE | 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3832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Linear Regression (OLS Baseline)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Standard multi-feature linear hypothesis.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Minimizes Residual Sum of Squares (RSS).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Assumes independent, additive feature contributions.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Serves as the empirical benchmark 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3832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Ridge Regression (L2 Regularization)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Linear model with L2 weight shrinkage.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Loss: RSS + α Σ βⱼ²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Tuned α across [0.01, 0.1, 1.0, 10.0, 100.0].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Controls multicollinearity &amp; stabilizes weights.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29000"/>
            <a:ext cx="3383280" cy="2651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Polynomial Ridge (Degree=2, α=10.0)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Non-linear basis expansion (quadratic &amp; interaction terms).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Captures feature synergies like (BMI × Smoker).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Regularized with α=10.0 to prevent overfitting.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Achieves optimal bias-variance 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🔒 Methodological Guarantee: Preprocessing transformers fit strictly on X_train only to prevent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ANSWERING: WHICH CONFIGURATION PERFORMS BEST ON THIS DATASET?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Comparison &amp; Hyperparameter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858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  <a:gridCol w="1143000"/>
                <a:gridCol w="1143000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Train 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MAE ($)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RMSE ($)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$4,181.19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0.01)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$4,181.31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$4,182.39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$4,193.20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$5,800.46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10.0)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$4,300.89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$5,856.32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100.0)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0.6729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0.6859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$5,217.80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$6,997.74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Polynomial Ridge (d=2, α=10.0)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0.8407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0.8656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$2,836.88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$4,568.56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25880"/>
            <a:ext cx="3566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r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3611880"/>
            <a:ext cx="320040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🎯 Empirical Takeaways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+8.2% Explained Variance: </a:t>
            </a:r>
            <a:r>
              <a:rPr sz="800">
                <a:solidFill>
                  <a:srgbClr val="475569"/>
                </a:solidFill>
              </a:rPr>
              <a:t>Polynomial Ridge increases R² from 78.36% to 86.56% on unseen test data.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Substantial Error Reduction: </a:t>
            </a:r>
            <a:r>
              <a:rPr sz="800">
                <a:solidFill>
                  <a:srgbClr val="475569"/>
                </a:solidFill>
              </a:rPr>
              <a:t>MAE drops by $1,344.31 (32% improvement) by modeling feature interactions.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Hyperparameter Impact: </a:t>
            </a:r>
            <a:r>
              <a:rPr sz="800">
                <a:solidFill>
                  <a:srgbClr val="475569"/>
                </a:solidFill>
              </a:rPr>
              <a:t>Excessive shrinkage (α=100) causes underfitting (R²=68.59%). α=10 provides optimal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ANALYZING ERROR PATTERNS ACROSS MODEL ARCHITECTURES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Diagnostics &amp; Error Inspection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🔍 What the Diagnostic Plots Reveal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Linear Baseline: </a:t>
            </a:r>
            <a:r>
              <a:rPr sz="900">
                <a:solidFill>
                  <a:srgbClr val="475569"/>
                </a:solidFill>
              </a:rPr>
              <a:t>Systematically underpredicts high charges ($30k+), creating a dispersed fan pattern (heteroscedasticity) due to unmodeled interactions.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Polynomial Ridge: </a:t>
            </a:r>
            <a:r>
              <a:rPr sz="900">
                <a:solidFill>
                  <a:srgbClr val="475569"/>
                </a:solidFill>
              </a:rPr>
              <a:t>Predictions cluster significantly closer to the ideal y=x reference line across both low-cost non-smokers and high-cost obese smokers.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Residual Uniformity: </a:t>
            </a:r>
            <a:r>
              <a:rPr sz="900">
                <a:solidFill>
                  <a:srgbClr val="475569"/>
                </a:solidFill>
              </a:rPr>
              <a:t>Variance of residuals is stabilized, demonstrating improved bias-variance tradeoff on 268 test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diagnostic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063240"/>
            <a:ext cx="97840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LIGHTWEIGHT INTEGRATION SUPPORTING 40% EVALUATION COMPONENT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Architecture &amp; Code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301752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1. Frontend Dashboard (React 18 + Vite)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Single-Page Application (SPA) on Port 5173.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3 Clean Workbench Tabs: Prediction, Scorecard, Diagnostics.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Human-readable inputs (Age, BMI, Smoker).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Live benchmark scorecard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01752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2. Backend API Service (FastAPI)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Lightweight Python REST server on Port 8000.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Startup Caching: Pipelines pre-fitted once in memory.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Sub-millisecond live inference (&lt; 2 ms).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Handles internal baseline defaults (Region).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383280" cy="3931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08760"/>
            <a:ext cx="301752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3. ML Core Engine (Scikit-Learn)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Modular pipeline module (ml_core/insurance_regression.py).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Leak-free ColumnTransformer preprocessing.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Estimators: Linear, Ridge, and Polynomial Ridge.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Standardized metric evaluation (R², MAE, RMSE).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98480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💻 CODE DEMONSTRATION PHASE (40% Marks Allocation)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Proceeding to live execution: FastAPI backend terminal  →  React web dashboard  →  Jupyter Master Notebook.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EQUAL RESPONSIBILITY ACROSS ML RESEARCH &amp; SOFTWARE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Team Contributions &amp; Division of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600200"/>
            <a:ext cx="4572000" cy="502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👨‍💻 Ujjwal Singh (Roll No: 262IS036)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• Exploratory Data Analysis: </a:t>
            </a:r>
            <a:r>
              <a:rPr sz="950">
                <a:solidFill>
                  <a:srgbClr val="475569"/>
                </a:solidFill>
              </a:rPr>
              <a:t>Statistical profiling, distribution analysis, and correlation matrices.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Interaction Discovery: </a:t>
            </a:r>
            <a:r>
              <a:rPr sz="950">
                <a:solidFill>
                  <a:srgbClr val="475569"/>
                </a:solidFill>
              </a:rPr>
              <a:t>Discovered exponential non-linear synergy between BMI and smoking status.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Model Implementation: </a:t>
            </a:r>
            <a:r>
              <a:rPr sz="950">
                <a:solidFill>
                  <a:srgbClr val="475569"/>
                </a:solidFill>
              </a:rPr>
              <a:t>Developed baseline Linear Regression and Polynomial Feature expansion (d=2).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Diagnostic Visualization: </a:t>
            </a:r>
            <a:r>
              <a:rPr sz="950">
                <a:solidFill>
                  <a:srgbClr val="475569"/>
                </a:solidFill>
              </a:rPr>
              <a:t>Implemented Actual vs. Predicted scatter curves and residual distributions.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Master Notebook: </a:t>
            </a:r>
            <a:r>
              <a:rPr sz="950">
                <a:solidFill>
                  <a:srgbClr val="475569"/>
                </a:solidFill>
              </a:rPr>
              <a:t>Maintained complete reproducible regression notebook in notebooks/regression/.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663440" cy="5029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👨‍💻 Aryan (Roll No: 262IS007)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• Pipeline &amp; Leak Prevention: </a:t>
            </a:r>
            <a:r>
              <a:rPr sz="950">
                <a:solidFill>
                  <a:srgbClr val="475569"/>
                </a:solidFill>
              </a:rPr>
              <a:t>Built Scikit-Learn ColumnTransformer for automated, leak-free preprocessing.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Regularization Experiments: </a:t>
            </a:r>
            <a:r>
              <a:rPr sz="950">
                <a:solidFill>
                  <a:srgbClr val="475569"/>
                </a:solidFill>
              </a:rPr>
              <a:t>Conducted Ridge L2 hyperparameter tuning across α = [0.01, 100].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Benchmarking Module: </a:t>
            </a:r>
            <a:r>
              <a:rPr sz="950">
                <a:solidFill>
                  <a:srgbClr val="475569"/>
                </a:solidFill>
              </a:rPr>
              <a:t>Created standardized evaluation module for R², MAE, and RMSE metrics.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Backend REST Integration: </a:t>
            </a:r>
            <a:r>
              <a:rPr sz="950">
                <a:solidFill>
                  <a:srgbClr val="475569"/>
                </a:solidFill>
              </a:rPr>
              <a:t>Implemented FastAPI backend layer with memory caching for sub-millisecond execution.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Schema Coordination: </a:t>
            </a:r>
            <a:r>
              <a:rPr sz="950">
                <a:solidFill>
                  <a:srgbClr val="475569"/>
                </a:solidFill>
              </a:rPr>
              <a:t>Designed schema-driven API models to support modular multi-dataset extension.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PHASED PROGRESSION TOWARD COMPLETE ML BENCHMARKING SUITE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Roadmap: CE-2 &amp; End-Semester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57200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📅 Phase 4: Continuous Evaluation 2 (Nov 01)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Classification Dataset Ingestion: </a:t>
            </a:r>
            <a:r>
              <a:rPr sz="950">
                <a:solidFill>
                  <a:srgbClr val="475569"/>
                </a:solidFill>
              </a:rPr>
              <a:t>Add real-world classification dataset (Telco Customer Churn, ~7,000 records).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Parametric &amp; Tree Classifiers: </a:t>
            </a:r>
            <a:r>
              <a:rPr sz="950">
                <a:solidFill>
                  <a:srgbClr val="475569"/>
                </a:solidFill>
              </a:rPr>
              <a:t>Implement Logistic Regression, KNN, Decision Tree, and Random Forest.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Classification Evaluation Metrics: </a:t>
            </a:r>
            <a:r>
              <a:rPr sz="950">
                <a:solidFill>
                  <a:srgbClr val="475569"/>
                </a:solidFill>
              </a:rPr>
              <a:t>Compute Accuracy, Precision, Recall, F1-Score, and ROC-AUC score.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Diagnostic Heatmaps: </a:t>
            </a:r>
            <a:r>
              <a:rPr sz="950">
                <a:solidFill>
                  <a:srgbClr val="475569"/>
                </a:solidFill>
              </a:rPr>
              <a:t>Build interactive Confusion Matrix and ROC curve diagnostic plots.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📅 Phase 5: End-Semester Evaluation (Nov 10–13)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Automated Hyperparameter Search: </a:t>
            </a:r>
            <a:r>
              <a:rPr sz="950">
                <a:solidFill>
                  <a:srgbClr val="475569"/>
                </a:solidFill>
              </a:rPr>
              <a:t>Incorporate GridSearchCV &amp; RandomizedSearchCV with k-fold cross-validation.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Multi-Dataset UI Switching: </a:t>
            </a:r>
            <a:r>
              <a:rPr sz="950">
                <a:solidFill>
                  <a:srgbClr val="475569"/>
                </a:solidFill>
              </a:rPr>
              <a:t>Schema-driven dynamic interface supporting multiple regression &amp; classification tasks.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Comprehensive Final Report: </a:t>
            </a:r>
            <a:r>
              <a:rPr sz="950">
                <a:solidFill>
                  <a:srgbClr val="475569"/>
                </a:solidFill>
              </a:rPr>
              <a:t>Complete LaTeX technical report documenting all algorithms, latency, and findings.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End-to-End System Verification: </a:t>
            </a:r>
            <a:r>
              <a:rPr sz="950">
                <a:solidFill>
                  <a:srgbClr val="475569"/>
                </a:solidFill>
              </a:rPr>
              <a:t>Full platform verification and reproducible open-source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</a:defRPr>
            </a:pPr>
            <a:r>
              <a:t>ModelBench Mid-Semester Evaluation Summary</a:t>
            </a:r>
          </a:p>
          <a:p>
            <a:pPr algn="ctr">
              <a:spcBef>
                <a:spcPts val="1600"/>
              </a:spcBef>
              <a:defRPr sz="1200">
                <a:solidFill>
                  <a:srgbClr val="475569"/>
                </a:solidFill>
              </a:defRPr>
            </a:pPr>
            <a:r>
              <a:t>✅ 80–90% ML Focus: Leak-free ColumnTransformer pipeline with demonstrated +8.2% R² gain</a:t>
            </a:r>
            <a:br/>
            <a:r>
              <a:t>✅ 10–20% Web Integration: Sub-millisecond FastAPI backend and 3-tab React dashboard</a:t>
            </a:r>
            <a:br/>
            <a:r>
              <a:t>✅ Clear Phased Roadmap: Ready for Classification, Trees, Ensembles, and automated tuning for CE-2</a:t>
            </a:r>
          </a:p>
          <a:p>
            <a:pPr algn="ctr">
              <a:spcBef>
                <a:spcPts val="2400"/>
              </a:spcBef>
              <a:defRPr sz="2800" b="1">
                <a:solidFill>
                  <a:srgbClr val="2563EB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Questions &amp; Technical Discussion (15% Evaluation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566160"/>
            <a:ext cx="5760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