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Arial"/>
              </a:defRPr>
            </a:pPr>
            <a:r>
              <a:t>CS801: COMPUTING LAB  |  CONTINUOUS EVALUATION 2 (CE-2)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ModelBench: An Empirical Classical Machine Learning Benchmarking Platform</a:t>
            </a:r>
          </a:p>
          <a:p>
            <a:pPr>
              <a:spcAft>
                <a:spcPts val="36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CE-2 Progress: Scaling to 10k+ Observation Datasets, Classification Engine &amp; Diagnostic Analytics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Presented By:  Ujjwal Singh (262IS036)  &amp;  Aryan (262IS007)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Course Instructor: Prof. P. Santhi Thilagam  |  Department of Computer Science &amp; Engineering, NITK Surathkal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Evaluation Milestone: 50% Progress Demonstration  |  Date: November 01,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CONTEXT &amp; ARCHITECTURAL SCOPE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Evolution from MidSem to Continuous Evaluation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Evaluator Feedback &amp; Real-World Scale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Proof-of-Concept to Real Scale: </a:t>
            </a:r>
            <a:r>
              <a:rPr b="0">
                <a:solidFill>
                  <a:srgbClr val="64748B"/>
                </a:solidFill>
              </a:rPr>
              <a:t>At MidSem, regression was evaluated on Medical Insurance (1,338 records). The evaluator requested testing algorithms on substantial datasets containing 10,000–15,000+ observations.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Dual-Task Expansion: </a:t>
            </a:r>
            <a:r>
              <a:rPr b="0">
                <a:solidFill>
                  <a:srgbClr val="64748B"/>
                </a:solidFill>
              </a:rPr>
              <a:t>Expanded the single-task regression platform into a dual-task benchmark suite comparing continuous Regression and discrete Classification under identical evaluation rigor.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True Non-Linearity: </a:t>
            </a:r>
            <a:r>
              <a:rPr b="0">
                <a:solidFill>
                  <a:srgbClr val="64748B"/>
                </a:solidFill>
              </a:rPr>
              <a:t>Selected datasets containing complex non-linear interactions (rush-hour commute spikes and e-commerce class imbalance) to authentically benchmark model expressiveness.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2. Deliberate Focus on Classical ML (No Trees)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Exclusion of Tree Ensembles: </a:t>
            </a:r>
            <a:r>
              <a:rPr b="0">
                <a:solidFill>
                  <a:srgbClr val="64748B"/>
                </a:solidFill>
              </a:rPr>
              <a:t>Completely excluded Decision Trees, Random Forests, and Gradient Boosting to avoid heuristic black-box shortcuts and preserve mathematical transparency.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Core Algorithmic Foundations: </a:t>
            </a:r>
            <a:r>
              <a:rPr b="0">
                <a:solidFill>
                  <a:srgbClr val="64748B"/>
                </a:solidFill>
              </a:rPr>
              <a:t>Focused strictly on classical mathematical learning paradigms: Convex Optimization (OLS, Logistic), Regularization (Ridge L2, Lasso L1, ElasticNet), Polynomial Basis Expansions, Margin Classifiers (Linear SVR/SVC), and Bayesian inference.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Empirical Question Answered: </a:t>
            </a:r>
            <a:r>
              <a:rPr b="0">
                <a:solidFill>
                  <a:srgbClr val="64748B"/>
                </a:solidFill>
              </a:rPr>
              <a:t>Can well-engineered classical linear and regularized models compete with complex models when feature interactions and scaling are properly constructed? (Answer: Yes, R2 &gt; 0.91 on Bike Sharing, 88.5% Accuracy on Shoppers).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BENCHMARK TESTBEDS AT SCALE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 Canonical Real-World Datasets (&gt;10,000 Observations)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Bike Sharing Demand (Regression Benchmark)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Domain: Urban Transit &amp; Smart Cities (Washington D.C. Capital Bikeshare)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Scale: 17,379 hourly observations, 12 feature dimensions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Target Variable: Total hourly rental count (cnt, range: 1 to 977 bikes/hr)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Data Hygiene: 0 missing values, removed leak-prone component counts (casual + registered)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Key Challenge: Distinct diurnal rush-hour double peaks (8 AM &amp; 5 PM) that standard linear hyperplanes fail to capture.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Engineered Features: Scaled numeric atmospheric sensors + one-hot temporal categorical indicators + ordinal weather severity (1: Clear to 4: Severe Storm).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Online Shoppers Purchasing Intent (Classification)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Domain: E-Commerce Web Analytics &amp; Customer Conversion (UCI Repository)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Scale: 12,330 visitor sessions, 17 feature dimensions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Target Variable: Transaction completed (Revenue: 0 = Browsing, 1 = Purchase)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Data Hygiene: 0 missing values, binary integer encoding, stratified splitting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Key Challenge: Severe real-world class imbalance (84.5% non-purchasers vs. 15.5% purchasers) rendering simple accuracy metrics deceptive.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Engineered Features: Google Analytics PageValue score, product duration, bounce rates, exit rates, visitor type, month, and weekend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CLASSIFICATION ENGINE IMPLEMENTATION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Leak-Free Preprocessing &amp; Six Classical ML Classifiers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Leak-Free Preprocessing Architecture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Stratified 80/20 Partition: </a:t>
            </a:r>
            <a:r>
              <a:rPr b="0">
                <a:solidFill>
                  <a:srgbClr val="64748B"/>
                </a:solidFill>
              </a:rPr>
              <a:t>Preserves the 84.5% / 15.5% class proportion across both training (9,864 rows) and test sets (2,466 rows) with fixed random seed.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Strict ColumnTransformer Isolation: </a:t>
            </a:r>
            <a:r>
              <a:rPr b="0">
                <a:solidFill>
                  <a:srgbClr val="64748B"/>
                </a:solidFill>
              </a:rPr>
              <a:t>Preprocessing transforms are fit exclusively on X_train. The test set is only transformed to guarantee zero data leakage.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StandardScaler: </a:t>
            </a:r>
            <a:r>
              <a:rPr b="0">
                <a:solidFill>
                  <a:srgbClr val="64748B"/>
                </a:solidFill>
              </a:rPr>
              <a:t>Standardizes 10 continuous session telemetry features (PageValues, ExitRates, Durations) to zero mean and unit variance.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OneHotEncoder: </a:t>
            </a:r>
            <a:r>
              <a:rPr b="0">
                <a:solidFill>
                  <a:srgbClr val="64748B"/>
                </a:solidFill>
              </a:rPr>
              <a:t>One-hot encodes 7 categorical indicators with drop='first' (avoiding dummy trap) and sparse_output=False for dense matrix algorithms (GaussianNB).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Six Classical Classifier Architectures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1. Logistic Regression (Baseline): </a:t>
            </a:r>
            <a:r>
              <a:rPr b="0">
                <a:solidFill>
                  <a:srgbClr val="64748B"/>
                </a:solidFill>
              </a:rPr>
              <a:t>Generalized linear model utilizing log-odds sigmoid link function with maximum likelihood estimation.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2. Ridge Logistic Regression (L2): </a:t>
            </a:r>
            <a:r>
              <a:rPr b="0">
                <a:solidFill>
                  <a:srgbClr val="64748B"/>
                </a:solidFill>
              </a:rPr>
              <a:t>Applies L2 weight penalty (C=0.1) to shrink multicollinear browsing coefficients and stabilize generalization.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3. Lasso Logistic Regression (L1): </a:t>
            </a:r>
            <a:r>
              <a:rPr b="0">
                <a:solidFill>
                  <a:srgbClr val="64748B"/>
                </a:solidFill>
              </a:rPr>
              <a:t>Applies L1 penalty (C=0.5, liblinear) driving uninformative session parameters to exactly zero.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4. Linear Support Vector Classifier: </a:t>
            </a:r>
            <a:r>
              <a:rPr b="0">
                <a:solidFill>
                  <a:srgbClr val="64748B"/>
                </a:solidFill>
              </a:rPr>
              <a:t>Maximizes geometric margin separating buyer classes; calibrated via Platt scaling (CalibratedClassifierCV).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5. K-Nearest Neighbors (k=7): </a:t>
            </a:r>
            <a:r>
              <a:rPr b="0">
                <a:solidFill>
                  <a:srgbClr val="64748B"/>
                </a:solidFill>
              </a:rPr>
              <a:t>Instance-based non-parametric classifier using distance-weighted voting across local feature neighborhoods.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6. Gaussian Naive Bayes: </a:t>
            </a:r>
            <a:r>
              <a:rPr b="0">
                <a:solidFill>
                  <a:srgbClr val="64748B"/>
                </a:solidFill>
              </a:rPr>
              <a:t>Probabilistic classifier estimating class-conditional Gaussian likelihoods with Bayes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EMPIRICAL BENCHMARKING RESULTS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Model Scorecard on Stratified Test Partition (N = 2,466)</a:t>
            </a:r>
          </a:p>
        </p:txBody>
      </p:sp>
      <p:pic>
        <p:nvPicPr>
          <p:cNvPr id="3" name="Picture 2" descr="ce2_fig3_classific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280903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66560" y="1645920"/>
            <a:ext cx="4663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Classification Benchmark Scorecard</a:t>
            </a:r>
          </a:p>
          <a:p>
            <a:pPr>
              <a:spcBef>
                <a:spcPts val="800"/>
              </a:spcBef>
              <a:defRPr sz="950" b="1">
                <a:solidFill>
                  <a:srgbClr val="2563EB"/>
                </a:solidFill>
                <a:latin typeface="Consolas"/>
              </a:defRPr>
            </a:pPr>
            <a:r>
              <a:t>Algorithm              | Acc    | Prec   | ROC-AUC</a:t>
            </a:r>
          </a:p>
          <a:p>
            <a:pPr>
              <a:spcBef>
                <a:spcPts val="300"/>
              </a:spcBef>
              <a:defRPr sz="950" b="1">
                <a:solidFill>
                  <a:srgbClr val="16A34A"/>
                </a:solidFill>
                <a:latin typeface="Consolas"/>
              </a:defRPr>
            </a:pPr>
            <a:r>
              <a:t>Ridge Logistic (L2) [BEST] | 88.52% | 74.19% | 0.8835</a:t>
            </a:r>
          </a:p>
          <a:p>
            <a:pPr>
              <a:spcBef>
                <a:spcPts val="300"/>
              </a:spcBef>
              <a:defRPr sz="950" b="0">
                <a:solidFill>
                  <a:srgbClr val="0F172A"/>
                </a:solidFill>
                <a:latin typeface="Consolas"/>
              </a:defRPr>
            </a:pPr>
            <a:r>
              <a:t>Logistic Baseline (OLS) | 88.16% | 74.19% | 0.8835</a:t>
            </a:r>
          </a:p>
          <a:p>
            <a:pPr>
              <a:spcBef>
                <a:spcPts val="300"/>
              </a:spcBef>
              <a:defRPr sz="950" b="0">
                <a:solidFill>
                  <a:srgbClr val="0F172A"/>
                </a:solidFill>
                <a:latin typeface="Consolas"/>
              </a:defRPr>
            </a:pPr>
            <a:r>
              <a:t>Lasso Logistic (L1)    | 88.48% | 73.80% | 0.8829</a:t>
            </a:r>
          </a:p>
          <a:p>
            <a:pPr>
              <a:spcBef>
                <a:spcPts val="300"/>
              </a:spcBef>
              <a:defRPr sz="950" b="0">
                <a:solidFill>
                  <a:srgbClr val="0F172A"/>
                </a:solidFill>
                <a:latin typeface="Consolas"/>
              </a:defRPr>
            </a:pPr>
            <a:r>
              <a:t>Linear SVC (Calibrated) | 88.44% | 72.10% | 0.8840</a:t>
            </a:r>
          </a:p>
          <a:p>
            <a:pPr>
              <a:spcBef>
                <a:spcPts val="300"/>
              </a:spcBef>
              <a:defRPr sz="950" b="0">
                <a:solidFill>
                  <a:srgbClr val="0F172A"/>
                </a:solidFill>
                <a:latin typeface="Consolas"/>
              </a:defRPr>
            </a:pPr>
            <a:r>
              <a:t>KNN Classifier (k=7)   | 86.29% | 58.40% | 0.8050</a:t>
            </a:r>
          </a:p>
          <a:p>
            <a:pPr>
              <a:spcBef>
                <a:spcPts val="300"/>
              </a:spcBef>
              <a:defRPr sz="950" b="0">
                <a:solidFill>
                  <a:srgbClr val="0F172A"/>
                </a:solidFill>
                <a:latin typeface="Consolas"/>
              </a:defRPr>
            </a:pPr>
            <a:r>
              <a:t>Gaussian Naive Bayes   | 83.82% | 48.90% | 0.8310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Key Empirical Takeaways: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Convex Regularization Wins: Ridge Logistic achieves the highest accuracy (88.52%) and 74.2% buyer precision.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AUC Robustness: Linear SVC and Logistic both achieve ~0.884 ROC-AUC, demonstrating high discriminative power under class imbalance.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Fast Training: All 6 models fit in under 5 seconds total on 12k rows without tree ensemble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DIAGNOSTIC ERROR ANALYSIS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Confusion Matrix &amp; Imbalance Resolution Analysis</a:t>
            </a:r>
          </a:p>
        </p:txBody>
      </p:sp>
      <p:pic>
        <p:nvPicPr>
          <p:cNvPr id="3" name="Picture 2" descr="ce2_fig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645920"/>
            <a:ext cx="54864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Interpreting Error Distributions on Imbalanced Data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Why Accuracy Alone is Deceptive: </a:t>
            </a:r>
            <a:r>
              <a:rPr b="0">
                <a:solidFill>
                  <a:srgbClr val="64748B"/>
                </a:solidFill>
              </a:rPr>
              <a:t>On 84.5% negative samples, a dummy classifier predicting all zeros scores 84.5% accuracy but is completely useless in business.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Extreme Specificity (97.7%): </a:t>
            </a:r>
            <a:r>
              <a:rPr b="0">
                <a:solidFill>
                  <a:srgbClr val="64748B"/>
                </a:solidFill>
              </a:rPr>
              <a:t>Of 2,084 true browsing visitors in the test set, Ridge Logistic correctly classifies 2,037 (True Negatives) with only 47 False Positives (2.3% false alarm rate).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High Precision on Buyers (74.2%): </a:t>
            </a:r>
            <a:r>
              <a:rPr b="0">
                <a:solidFill>
                  <a:srgbClr val="64748B"/>
                </a:solidFill>
              </a:rPr>
              <a:t>When the model flags an online user as a buyer, it is correct nearly 3 out of 4 times. In production e-commerce, this prevents sending expensive discount codes to window-shoppers.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The Precision-Recall Trade-off: </a:t>
            </a:r>
            <a:r>
              <a:rPr b="0">
                <a:solidFill>
                  <a:srgbClr val="64748B"/>
                </a:solidFill>
              </a:rPr>
              <a:t>Gaussian Naive Bayes shifts the decision threshold, capturing 71.5% Recall (273 true buyers) but dropping Precision to 48.9%. ModelBench lets researchers compare these trade-offs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REGRESSION BENCHMARK PROGRESSION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Capturing Non-Linear Diurnal Dynamics on 17,379 Observations</a:t>
            </a:r>
          </a:p>
        </p:txBody>
      </p:sp>
      <p:pic>
        <p:nvPicPr>
          <p:cNvPr id="3" name="Picture 2" descr="ce2_fig4_regressi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6060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Mathematical Non-Linearity &amp; Weather Penalties</a:t>
            </a:r>
          </a:p>
          <a:p>
            <a:pPr>
              <a:spcBef>
                <a:spcPts val="700"/>
              </a:spcBef>
              <a:defRPr b="1" sz="1100">
                <a:solidFill>
                  <a:srgbClr val="0F172A"/>
                </a:solidFill>
              </a:defRPr>
            </a:pPr>
            <a:r>
              <a:t>Why Standard Linear Models Underfit (R2 = 0.388): </a:t>
            </a:r>
            <a:r>
              <a:rPr b="0">
                <a:solidFill>
                  <a:srgbClr val="64748B"/>
                </a:solidFill>
              </a:rPr>
              <a:t>Hourly rental demand exhibits sharp non-linear morning (8 AM) and evening (5 PM) peaks. A standard linear hyperplane cannot flex to model two distinct peaks.</a:t>
            </a:r>
          </a:p>
          <a:p>
            <a:pPr>
              <a:spcBef>
                <a:spcPts val="700"/>
              </a:spcBef>
              <a:defRPr b="1" sz="1100">
                <a:solidFill>
                  <a:srgbClr val="0F172A"/>
                </a:solidFill>
              </a:defRPr>
            </a:pPr>
            <a:r>
              <a:t>Quadratic Polynomial Expansion (d=2): </a:t>
            </a:r>
            <a:r>
              <a:rPr b="0">
                <a:solidFill>
                  <a:srgbClr val="64748B"/>
                </a:solidFill>
              </a:rPr>
              <a:t>Polynomial Ridge expands numeric atmospheric sensors and interactions, enabling linear algorithms to capture quadratic peak commute curves: R2 surges to 0.9137 (+52.6% variance explained) and MAE drops to 35.9 bikes/hr.</a:t>
            </a:r>
          </a:p>
          <a:p>
            <a:pPr>
              <a:spcBef>
                <a:spcPts val="700"/>
              </a:spcBef>
              <a:defRPr b="1" sz="1100">
                <a:solidFill>
                  <a:srgbClr val="0F172A"/>
                </a:solidFill>
              </a:defRPr>
            </a:pPr>
            <a:r>
              <a:t>KNN Regressor Validity (R2 = 0.814): </a:t>
            </a:r>
            <a:r>
              <a:rPr b="0">
                <a:solidFill>
                  <a:srgbClr val="64748B"/>
                </a:solidFill>
              </a:rPr>
              <a:t>KNN Regression computes distance-weighted local averages across historical matching weather days, providing an effective non-parametric regression alternative.</a:t>
            </a:r>
          </a:p>
          <a:p>
            <a:pPr>
              <a:spcBef>
                <a:spcPts val="700"/>
              </a:spcBef>
              <a:defRPr b="1" sz="1100">
                <a:solidFill>
                  <a:srgbClr val="0F172A"/>
                </a:solidFill>
              </a:defRPr>
            </a:pPr>
            <a:r>
              <a:t>Ordinal Weather Encoding: </a:t>
            </a:r>
            <a:r>
              <a:rPr b="0">
                <a:solidFill>
                  <a:srgbClr val="64748B"/>
                </a:solidFill>
              </a:rPr>
              <a:t>Weathersit severity is encoded monotonically (1: Clear &lt; 2: Mist &lt; 3: Adverse &lt; 4: Severe Storm), ensuring adverse storm conditions realistically penalize predictions (306 -&gt; 81 bikes/hr).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PLATFORM ENGINEERING &amp; INTEGRATION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Full-Stack Software Architecture Supporting 50% Milestone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Machine Learning Core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Scikit-Learn, NumPy, Pandas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Pre-fitted pipelines cached in server memory at startup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Zero data leakage via frozen ColumnTransformers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7 Regression models + 6 Classification models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Standalone runnable scripts: bike_regression.py &amp; shoppers_classification.py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2. FastAPI REST Gateway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High-performance async Python backend running on port 8000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Sub-millisecond inference (&lt; 2 ms) on user feature submissions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Decoupled confidence calculation: separates predicted class probability from buyer intent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Dynamic endpoints: /api/predict, /api/comparison, /api/diagnostics, /api/insights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3. React 18 Workbench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Vite-powered single-page responsive dashboard on port 3000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Interactive What-If simulation with environmental &amp; session sliders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Automated severe storm presets &amp; weather synchronizers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Empirical scorecards with Champion model highlighting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Interactive Confusion Matrix heatmaps and Scatter error visualizers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PROJECT MANAGEMENT &amp; PHASED ROADMAP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Team Responsibilities &amp; Phased Milestones Toward EndSem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Team Responsibilities (Equal Ownership)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Ujjwal Singh (Roll No: 262IS036)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Classification benchmark engine architecture &amp; model training.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Class imbalance inspection, stratified splitting, and evaluation.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Confusion Matrix diagnostic visualization and specificity analysis.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Master Jupyter Notebooks: EDA, mathematical formulations, and step-by-step benchmark verification.</a:t>
            </a:r>
          </a:p>
          <a:p>
            <a:pPr>
              <a:spcBef>
                <a:spcPts val="1000"/>
              </a:spcBef>
              <a:defRPr b="1" sz="1200">
                <a:solidFill>
                  <a:srgbClr val="2563EB"/>
                </a:solidFill>
              </a:defRPr>
            </a:pPr>
            <a:r>
              <a:t>Aryan (Roll No: 262IS007)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Leak-free ColumnTransformer pipeline design &amp; preprocessing isolation.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Polynomial feature expansion &amp; regularized regression benchmarks.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FastAPI backend gateway development and in-memory model caching.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React dashboard implementation: dynamic dataset toggles, sliders, and proxy.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Milestone Schedule &amp; Roadmap to EndSem</a:t>
            </a:r>
          </a:p>
          <a:p>
            <a:pPr>
              <a:spcBef>
                <a:spcPts val="600"/>
              </a:spcBef>
              <a:defRPr b="1" sz="1050">
                <a:solidFill>
                  <a:srgbClr val="0F172A"/>
                </a:solidFill>
              </a:defRPr>
            </a:pPr>
            <a:r>
              <a:t>Phase 1: Extended Abstract (Sept 04)</a:t>
            </a:r>
            <a:r>
              <a:rPr b="0" sz="950">
                <a:solidFill>
                  <a:srgbClr val="64748B"/>
                </a:solidFill>
              </a:rPr>
              <a:t>
  Finalized 3-page LaTeX abstract submission. [Completed]</a:t>
            </a:r>
          </a:p>
          <a:p>
            <a:pPr>
              <a:spcBef>
                <a:spcPts val="600"/>
              </a:spcBef>
              <a:defRPr b="1" sz="1050">
                <a:solidFill>
                  <a:srgbClr val="0F172A"/>
                </a:solidFill>
              </a:defRPr>
            </a:pPr>
            <a:r>
              <a:t>Phase 2: Continuous Eval 1 (Sept 21)</a:t>
            </a:r>
            <a:r>
              <a:rPr b="0" sz="950">
                <a:solidFill>
                  <a:srgbClr val="64748B"/>
                </a:solidFill>
              </a:rPr>
              <a:t>
  10-minute presentation on problem analysis &amp; architecture. [Completed]</a:t>
            </a:r>
          </a:p>
          <a:p>
            <a:pPr>
              <a:spcBef>
                <a:spcPts val="600"/>
              </a:spcBef>
              <a:defRPr b="1" sz="1050">
                <a:solidFill>
                  <a:srgbClr val="0F172A"/>
                </a:solidFill>
              </a:defRPr>
            </a:pPr>
            <a:r>
              <a:t>Phase 3: MidSem Evaluation (Oct 12)</a:t>
            </a:r>
            <a:r>
              <a:rPr b="0" sz="950">
                <a:solidFill>
                  <a:srgbClr val="64748B"/>
                </a:solidFill>
              </a:rPr>
              <a:t>
  MidSem LaTeX report, live regression demonstration (40% milestone). [Completed]</a:t>
            </a:r>
          </a:p>
          <a:p>
            <a:pPr>
              <a:spcBef>
                <a:spcPts val="600"/>
              </a:spcBef>
              <a:defRPr b="1" sz="1050">
                <a:solidFill>
                  <a:srgbClr val="16A34A"/>
                </a:solidFill>
              </a:defRPr>
            </a:pPr>
            <a:r>
              <a:t>Phase 4: Continuous Eval 2 (Nov 01 - TODAY)</a:t>
            </a:r>
            <a:r>
              <a:rPr b="0" sz="950">
                <a:solidFill>
                  <a:srgbClr val="64748B"/>
                </a:solidFill>
              </a:rPr>
              <a:t>
  50% live code demonstration: Dual 10k+ datasets, Classification Engine, Multi-metric scorecard, Confusion Matrix diagnostics. [Current]</a:t>
            </a:r>
          </a:p>
          <a:p>
            <a:pPr>
              <a:spcBef>
                <a:spcPts val="600"/>
              </a:spcBef>
              <a:defRPr b="1" sz="1050">
                <a:solidFill>
                  <a:srgbClr val="0F172A"/>
                </a:solidFill>
              </a:defRPr>
            </a:pPr>
            <a:r>
              <a:t>Phase 5: EndSem Evaluation (Nov 10-13)</a:t>
            </a:r>
            <a:r>
              <a:rPr b="0" sz="950">
                <a:solidFill>
                  <a:srgbClr val="64748B"/>
                </a:solidFill>
              </a:rPr>
              <a:t>
  Automated cross-validation sensitivity surfaces (GridSearchCV), comprehensive final LaTeX thesis, and 60% complete code demonstration. [Next]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Arial"/>
              </a:defRPr>
            </a:pPr>
            <a:r>
              <a:t>CONTINUOUS EVALUATION 2 (CE-2)  |  CONCLUSION</a:t>
            </a:r>
          </a:p>
          <a:p>
            <a:pPr>
              <a:spcBef>
                <a:spcPts val="1000"/>
              </a:spcBef>
              <a:spcAft>
                <a:spcPts val="2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Summary of Accomplishments &amp; Live System Demonstration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✓  Scaled Benchmark Testbeds: Replaced small proof-of-concept with two real-world datasets totaling ~30,000 observations (Bike Sharing: 17,379 rows; Online Shoppers: 12,330 rows).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✓  Comprehensive Classification Engine: Successfully implemented 6 classical algorithms evaluated across Accuracy, Precision, Recall, F1, and ROC-AUC.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✓  Solved Practical ML Challenges: Addressed severe 84.5% class imbalance with high specificity (97.7%) and resolved diurnal non-linearities via quadratic polynomial expansion (R2 = 0.9137).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✓  Production Full-Stack Architecture: Live React + FastAPI platform with sub-millisecond predictions, interactive What-If sliders, and diagnostic heatmaps.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✓  Rigorous Academic Discipline: Zero data leakage, strict Scikit-Learn pipelines, and 100% runnable Jupyter notebooks.</a:t>
            </a:r>
          </a:p>
          <a:p>
            <a:pPr>
              <a:spcBef>
                <a:spcPts val="2400"/>
              </a:spcBef>
              <a:defRPr sz="1400" b="1">
                <a:solidFill>
                  <a:srgbClr val="34D399"/>
                </a:solidFill>
                <a:latin typeface="Arial"/>
              </a:defRPr>
            </a:pPr>
            <a:r>
              <a:t>Thank You! We invite the Evaluation Committee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